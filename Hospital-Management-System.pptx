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Unbounded"/>
      <p:regular r:id="rId16"/>
    </p:embeddedFont>
    <p:embeddedFont>
      <p:font typeface="Unbounded"/>
      <p:regular r:id="rId17"/>
    </p:embeddedFont>
    <p:embeddedFont>
      <p:font typeface="Open Sans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9644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Hospital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6293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Data Analytics Report: transforming raw transactional data into actionable insights for revenue optimization, patient care, and operational efficiency.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806797"/>
            <a:ext cx="2457807" cy="426244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5874782"/>
            <a:ext cx="21856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· PYTHON · POWER BI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875348"/>
            <a:ext cx="11373803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Schema &amp; Data Model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07" y="2149912"/>
            <a:ext cx="8303300" cy="4957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6919" y="2166104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Tables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636919" y="2734747"/>
            <a:ext cx="4219575" cy="24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Patients : demographics &amp; insurance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Doctors : specialization &amp; experience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Appointments : patient-doctor link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Treatments : procedures &amp; costs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Billing : transactions &amp; payment status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36919" y="5415558"/>
            <a:ext cx="4219575" cy="1647825"/>
          </a:xfrm>
          <a:prstGeom prst="roundRect">
            <a:avLst>
              <a:gd name="adj" fmla="val 5691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0161" y="5758220"/>
            <a:ext cx="279083" cy="2232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62486" y="5691068"/>
            <a:ext cx="327076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Star-like schema centered on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Appointments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ideal for BI analytics.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2846" y="502325"/>
            <a:ext cx="7575590" cy="41286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12846" y="4799052"/>
            <a:ext cx="5267801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Dashboard Overview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812846" y="5545217"/>
            <a:ext cx="3574733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$551.25K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2603421" y="6235184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Revenue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527715" y="5545217"/>
            <a:ext cx="3574733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200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6318290" y="6235184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Appointments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242584" y="5545217"/>
            <a:ext cx="3574733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50</a:t>
            </a:r>
            <a:endParaRPr lang="en-US" sz="4100" dirty="0"/>
          </a:p>
        </p:txBody>
      </p:sp>
      <p:sp>
        <p:nvSpPr>
          <p:cNvPr id="9" name="Text 6"/>
          <p:cNvSpPr/>
          <p:nvPr/>
        </p:nvSpPr>
        <p:spPr>
          <a:xfrm>
            <a:off x="10033159" y="6235184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Patients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670221" y="6788110"/>
            <a:ext cx="3574733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$2.73K</a:t>
            </a:r>
            <a:endParaRPr lang="en-US" sz="4100" dirty="0"/>
          </a:p>
        </p:txBody>
      </p:sp>
      <p:sp>
        <p:nvSpPr>
          <p:cNvPr id="11" name="Text 8"/>
          <p:cNvSpPr/>
          <p:nvPr/>
        </p:nvSpPr>
        <p:spPr>
          <a:xfrm>
            <a:off x="4157186" y="7478078"/>
            <a:ext cx="2600801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Avg. Treatment Cost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385090" y="6788110"/>
            <a:ext cx="3574852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32%</a:t>
            </a:r>
            <a:endParaRPr lang="en-US" sz="4100" dirty="0"/>
          </a:p>
        </p:txBody>
      </p:sp>
      <p:sp>
        <p:nvSpPr>
          <p:cNvPr id="13" name="Text 10"/>
          <p:cNvSpPr/>
          <p:nvPr/>
        </p:nvSpPr>
        <p:spPr>
          <a:xfrm>
            <a:off x="8042196" y="7478078"/>
            <a:ext cx="2260640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Payment Success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7981"/>
            <a:ext cx="100791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&amp; Payment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19218"/>
            <a:ext cx="3114437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🚨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Critical Finding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07983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32% payment success rate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major revenue leakage.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37861"/>
            <a:ext cx="420516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flow problems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Inefficient billing system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Insurance processing delays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119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Trends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893118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revenue fluctuates significantly   peak mid-year, drops later suggest seasonal or operational inefficiencies.</a:t>
            </a: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292072"/>
            <a:ext cx="8284131" cy="46942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365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Doctor Performance &amp; Treatment Costs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98577"/>
            <a:ext cx="3041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Doctor Workload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79721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Doctor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D005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handles significantly more appointments uneven distribution creates burnout risk.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95242"/>
            <a:ext cx="4064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Treatment Cost Range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376386"/>
            <a:ext cx="4205168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MRI: ~$3.2K (highest)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ECG: ~$2.5K (lowest)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385560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High-cost treatments contribute disproportionately to revenue.</a:t>
            </a: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646521"/>
            <a:ext cx="8284131" cy="46942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302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Appointments, Specializations &amp; Demographics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44215"/>
            <a:ext cx="6407944" cy="1692712"/>
          </a:xfrm>
          <a:prstGeom prst="roundRect">
            <a:avLst>
              <a:gd name="adj" fmla="val 562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478649"/>
            <a:ext cx="4103013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📅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Appointment Trends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97668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in April, decline later — demand variability signals scheduling inefficiencies.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244215"/>
            <a:ext cx="6408063" cy="1692712"/>
          </a:xfrm>
          <a:prstGeom prst="roundRect">
            <a:avLst>
              <a:gd name="adj" fmla="val 562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3478649"/>
            <a:ext cx="36684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🏥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Specialization Mix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397668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Pediatrics dominates; Oncology has least share. Staffing should match demand.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163741"/>
            <a:ext cx="6407944" cy="1692712"/>
          </a:xfrm>
          <a:prstGeom prst="roundRect">
            <a:avLst>
              <a:gd name="adj" fmla="val 562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5398175"/>
            <a:ext cx="377666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💳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Insurance Revenue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89621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Majority revenue from few providers — some insurers delay or fail payments more frequently.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5163741"/>
            <a:ext cx="6408063" cy="1692712"/>
          </a:xfrm>
          <a:prstGeom prst="roundRect">
            <a:avLst>
              <a:gd name="adj" fmla="val 562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982" y="5398175"/>
            <a:ext cx="443626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👤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Patient Demographics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589621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patients significantly higher — may indicate demographic bias or dataset imbalance.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5776" y="938093"/>
            <a:ext cx="7599759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Problems Identified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05776" y="1859756"/>
            <a:ext cx="7705249" cy="1218248"/>
          </a:xfrm>
          <a:prstGeom prst="roundRect">
            <a:avLst>
              <a:gd name="adj" fmla="val 9007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82916" y="1859756"/>
            <a:ext cx="91440" cy="1218248"/>
          </a:xfrm>
          <a:prstGeom prst="roundRect">
            <a:avLst>
              <a:gd name="adj" fmla="val 94419"/>
            </a:avLst>
          </a:prstGeom>
          <a:solidFill>
            <a:srgbClr val="26A688"/>
          </a:solidFill>
          <a:ln/>
        </p:spPr>
      </p:sp>
      <p:sp>
        <p:nvSpPr>
          <p:cNvPr id="6" name="Text 3"/>
          <p:cNvSpPr/>
          <p:nvPr/>
        </p:nvSpPr>
        <p:spPr>
          <a:xfrm>
            <a:off x="6502718" y="2088118"/>
            <a:ext cx="5058728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🚨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Low Payment Success (32%)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502718" y="2536150"/>
            <a:ext cx="717994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Major revenue leakage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05776" y="3264218"/>
            <a:ext cx="7705249" cy="1218248"/>
          </a:xfrm>
          <a:prstGeom prst="roundRect">
            <a:avLst>
              <a:gd name="adj" fmla="val 9007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82916" y="3264218"/>
            <a:ext cx="91440" cy="1218248"/>
          </a:xfrm>
          <a:prstGeom prst="roundRect">
            <a:avLst>
              <a:gd name="adj" fmla="val 94419"/>
            </a:avLst>
          </a:prstGeom>
          <a:solidFill>
            <a:srgbClr val="26A688"/>
          </a:solidFill>
          <a:ln/>
        </p:spPr>
      </p:sp>
      <p:sp>
        <p:nvSpPr>
          <p:cNvPr id="10" name="Text 7"/>
          <p:cNvSpPr/>
          <p:nvPr/>
        </p:nvSpPr>
        <p:spPr>
          <a:xfrm>
            <a:off x="6502718" y="3492579"/>
            <a:ext cx="4390073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🚨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Uneven Doctor Workload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02718" y="3940612"/>
            <a:ext cx="717994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Inefficient resource allocation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05776" y="4668679"/>
            <a:ext cx="7705249" cy="1218248"/>
          </a:xfrm>
          <a:prstGeom prst="roundRect">
            <a:avLst>
              <a:gd name="adj" fmla="val 9007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82916" y="4668679"/>
            <a:ext cx="91440" cy="1218248"/>
          </a:xfrm>
          <a:prstGeom prst="roundRect">
            <a:avLst>
              <a:gd name="adj" fmla="val 94419"/>
            </a:avLst>
          </a:prstGeom>
          <a:solidFill>
            <a:srgbClr val="26A688"/>
          </a:solidFill>
          <a:ln/>
        </p:spPr>
      </p:sp>
      <p:sp>
        <p:nvSpPr>
          <p:cNvPr id="14" name="Text 11"/>
          <p:cNvSpPr/>
          <p:nvPr/>
        </p:nvSpPr>
        <p:spPr>
          <a:xfrm>
            <a:off x="6502718" y="4897041"/>
            <a:ext cx="3453646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🚨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Revenue Instability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502718" y="5345073"/>
            <a:ext cx="717994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Seasonal or operational issues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05776" y="6073140"/>
            <a:ext cx="7705249" cy="1218248"/>
          </a:xfrm>
          <a:prstGeom prst="roundRect">
            <a:avLst>
              <a:gd name="adj" fmla="val 9007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82916" y="6073140"/>
            <a:ext cx="91440" cy="1218248"/>
          </a:xfrm>
          <a:prstGeom prst="roundRect">
            <a:avLst>
              <a:gd name="adj" fmla="val 94419"/>
            </a:avLst>
          </a:prstGeom>
          <a:solidFill>
            <a:srgbClr val="26A688"/>
          </a:solidFill>
          <a:ln/>
        </p:spPr>
      </p:sp>
      <p:sp>
        <p:nvSpPr>
          <p:cNvPr id="18" name="Text 15"/>
          <p:cNvSpPr/>
          <p:nvPr/>
        </p:nvSpPr>
        <p:spPr>
          <a:xfrm>
            <a:off x="6502718" y="6301502"/>
            <a:ext cx="4082296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🚨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Insurance Dependency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502718" y="6749534"/>
            <a:ext cx="7179945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concentration on few providers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1954" y="406718"/>
            <a:ext cx="4334828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Recommendations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2301954" y="1104900"/>
            <a:ext cx="3278862" cy="1726525"/>
          </a:xfrm>
          <a:prstGeom prst="roundRect">
            <a:avLst>
              <a:gd name="adj" fmla="val 353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54831" y="1257776"/>
            <a:ext cx="435888" cy="435888"/>
          </a:xfrm>
          <a:prstGeom prst="roundRect">
            <a:avLst>
              <a:gd name="adj" fmla="val 20975768"/>
            </a:avLst>
          </a:prstGeom>
          <a:solidFill>
            <a:srgbClr val="26A6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4727" y="1377672"/>
            <a:ext cx="196096" cy="196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54831" y="1786652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Financial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454831" y="2106692"/>
            <a:ext cx="2973110" cy="571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Stricter billing validation, automate payment follow-ups, improve insurance claim processing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01954" y="2924413"/>
            <a:ext cx="3278862" cy="1535906"/>
          </a:xfrm>
          <a:prstGeom prst="roundRect">
            <a:avLst>
              <a:gd name="adj" fmla="val 397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54831" y="3077289"/>
            <a:ext cx="435888" cy="435888"/>
          </a:xfrm>
          <a:prstGeom prst="roundRect">
            <a:avLst>
              <a:gd name="adj" fmla="val 20975768"/>
            </a:avLst>
          </a:prstGeom>
          <a:solidFill>
            <a:srgbClr val="26A6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4727" y="3197185"/>
            <a:ext cx="196096" cy="1960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54831" y="3606165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454831" y="3926205"/>
            <a:ext cx="297311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doctor workload, forecast demand with time series models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301954" y="4553307"/>
            <a:ext cx="3278862" cy="1535906"/>
          </a:xfrm>
          <a:prstGeom prst="roundRect">
            <a:avLst>
              <a:gd name="adj" fmla="val 397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54831" y="4706183"/>
            <a:ext cx="435888" cy="435888"/>
          </a:xfrm>
          <a:prstGeom prst="roundRect">
            <a:avLst>
              <a:gd name="adj" fmla="val 20975768"/>
            </a:avLst>
          </a:prstGeom>
          <a:solidFill>
            <a:srgbClr val="26A6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4727" y="4826079"/>
            <a:ext cx="196096" cy="1960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54831" y="5235059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Strategic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454831" y="5555099"/>
            <a:ext cx="297311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Pediatrics, improve outreach in low-demand areas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2301954" y="6182201"/>
            <a:ext cx="3278862" cy="1535906"/>
          </a:xfrm>
          <a:prstGeom prst="roundRect">
            <a:avLst>
              <a:gd name="adj" fmla="val 397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454831" y="6335078"/>
            <a:ext cx="435888" cy="435888"/>
          </a:xfrm>
          <a:prstGeom prst="roundRect">
            <a:avLst>
              <a:gd name="adj" fmla="val 20975768"/>
            </a:avLst>
          </a:prstGeom>
          <a:solidFill>
            <a:srgbClr val="26A6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74727" y="6454973"/>
            <a:ext cx="196096" cy="1960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54831" y="6863953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2454831" y="7183993"/>
            <a:ext cx="2973110" cy="38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payment delays, add patient satisfaction metrics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2767" y="2600087"/>
            <a:ext cx="6393180" cy="36227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59249"/>
            <a:ext cx="6341983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Tools &amp; Conclusion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42" y="2194322"/>
            <a:ext cx="8341519" cy="48254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3228" y="1849993"/>
            <a:ext cx="302525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Technology Stack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33228" y="2393752"/>
            <a:ext cx="4248150" cy="1832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: Database design &amp; querying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(Pandas, NumPy) : Data cleaning &amp; transformation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: Visualization &amp; dashboarding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633228" y="4512469"/>
            <a:ext cx="4248150" cy="16193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633228" y="4814411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Takeaway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33228" y="5358170"/>
            <a:ext cx="4248150" cy="2026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analysis uncovers critical issues  </a:t>
            </a:r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payment success, revenue inconsistency, and resource imbalance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, that targeted solutions can resolve to improve financial performance and patient care.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2026-05-04T07:51:59Z</dcterms:created>
  <dcterms:modified xsi:type="dcterms:W3CDTF">2026-05-04T07:51:59Z</dcterms:modified>
</cp:coreProperties>
</file>